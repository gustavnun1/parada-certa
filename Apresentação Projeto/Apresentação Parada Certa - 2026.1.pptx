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95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UNIVERSITÁRIO SENAC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Bacharelado em Sistemas de Informação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548640" cy="4572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CONCLUSÃO DE CURSO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Parada Certa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facilidade de encontrar uma vaga em um estacionamento privado em tempo real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703320"/>
            <a:ext cx="73152" cy="77724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3931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Nunes de Oliveira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Santos Mauro de Menezes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59436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 •  Brasil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apresentação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4023360" cy="7498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16152" y="1581912"/>
            <a:ext cx="18288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60020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15361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37360" y="18105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de segurança em São Paulo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417320"/>
            <a:ext cx="4023360" cy="7498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422392" y="1581912"/>
            <a:ext cx="18288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160020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43600" y="15361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943600" y="18105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 e específicos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02920" y="2304288"/>
            <a:ext cx="4023360" cy="7498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1216152" y="2468880"/>
            <a:ext cx="18288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" y="2487168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37360" y="24231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737360" y="2697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Parada Certa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09160" y="2304288"/>
            <a:ext cx="4023360" cy="7498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4632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5422392" y="2468880"/>
            <a:ext cx="18288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408" y="248716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943600" y="24231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943600" y="26974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C4 e stack tecnológica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02920" y="3191256"/>
            <a:ext cx="4023360" cy="7498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1216152" y="3355848"/>
            <a:ext cx="18288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4168" y="3374136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737360" y="33101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737360" y="35844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em funcionamento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709160" y="3191256"/>
            <a:ext cx="4023360" cy="7498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4632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9" name="Shape 32"/>
          <p:cNvSpPr/>
          <p:nvPr/>
        </p:nvSpPr>
        <p:spPr>
          <a:xfrm>
            <a:off x="5422392" y="3355848"/>
            <a:ext cx="18288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408" y="3374136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943600" y="33101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Validações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5943600" y="35844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adotada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02920" y="4078224"/>
            <a:ext cx="4023360" cy="7498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4008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5" name="Shape 37"/>
          <p:cNvSpPr/>
          <p:nvPr/>
        </p:nvSpPr>
        <p:spPr>
          <a:xfrm>
            <a:off x="1216152" y="4242816"/>
            <a:ext cx="18288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4168" y="4261104"/>
            <a:ext cx="292608" cy="29260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737360" y="41970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1737360" y="447141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 e benchmark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4709160" y="4078224"/>
            <a:ext cx="4023360" cy="749808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484632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51" name="Shape 42"/>
          <p:cNvSpPr/>
          <p:nvPr/>
        </p:nvSpPr>
        <p:spPr>
          <a:xfrm>
            <a:off x="5422392" y="4242816"/>
            <a:ext cx="18288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0408" y="4261104"/>
            <a:ext cx="292608" cy="292608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943600" y="41970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5943600" y="447141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e próximos passos</a:t>
            </a:r>
            <a:endParaRPr lang="en-US" sz="1000" dirty="0"/>
          </a:p>
        </p:txBody>
      </p:sp>
      <p:sp>
        <p:nvSpPr>
          <p:cNvPr id="55" name="Text 4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veicular em São Paulo (2024–2025)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2697480" cy="169164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2697480" cy="5486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45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17.536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6791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furtados em São Paulo nos primeiros 4 meses de 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4992" y="1417320"/>
            <a:ext cx="2697480" cy="169164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417320"/>
            <a:ext cx="2697480" cy="5486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645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966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502152" y="24231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OCORRÊNCIAS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47872" y="26791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 furtos + 102 roubos em estacionamentos e garagens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7064" y="1417320"/>
            <a:ext cx="2697480" cy="169164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1417320"/>
            <a:ext cx="2697480" cy="5486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645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+8,5%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364224" y="24231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9944" y="26791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nos furtos de carros na capital paulista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4983480" cy="141732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6432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9728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Bairros com maior incidência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" y="38404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Ipiranga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ocorrências   •   </a:t>
            </a: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Itaquera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ocorrências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Tatuapé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ocorrências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23560" y="3291840"/>
            <a:ext cx="3017520" cy="1417320"/>
          </a:xfrm>
          <a:prstGeom prst="rect">
            <a:avLst/>
          </a:prstGeom>
          <a:solidFill>
            <a:srgbClr val="E6EE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456432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217920" y="3429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da cidade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806440" y="3822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 milhões</a:t>
            </a:r>
            <a:endParaRPr lang="en-US" sz="2400" dirty="0"/>
          </a:p>
        </p:txBody>
      </p:sp>
      <p:sp>
        <p:nvSpPr>
          <p:cNvPr id="30" name="Text 26"/>
          <p:cNvSpPr/>
          <p:nvPr/>
        </p:nvSpPr>
        <p:spPr>
          <a:xfrm>
            <a:off x="580644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veículos cadastrados (2024) — motoristas inseguros frente a estacionamentos desconhecidos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 e específicos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8138160" cy="100584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727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417320" y="18288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o aumento da segurança e da confiabilidade na busca por estacionamentos privados em São Paulo por meio da aplicação Parada Certa.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606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926080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9008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9443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dados de furtos e roubos no contexto urbano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09160" y="2926080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99008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6360" y="29443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pesquisa acadêmica e documentação técnica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3584448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648456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60273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tecnologias adequadas ao escopo da aplicação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09160" y="3584448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364845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360273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 aplicação completa (mobile, web e kiosk)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02920" y="4242816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306824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0120" y="42611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regras de negócio sólidas e consistentes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709160" y="4242816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4306824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66360" y="42611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conformidade com os termos de uso e a LGPD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Relacionados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com os Objetivos de Desenvolvimento Sustentável da ONU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4023360" cy="77724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783080" y="15544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PAZ, JUSTIÇA 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INSTITUIÇÕES EFICAZES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urbanos mais seguros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da segurança em estacionamentos privados, com redução de ocorrências de furtos e roubos.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20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3538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entre as partes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580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 relação entre motoristas e prestadores de serviço.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417320"/>
            <a:ext cx="4023360" cy="77724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4632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5943600" y="15544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DECENTE 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ECONÔMICO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46888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924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do setor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8463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à regularização e profissionalização dos estacionamentos privados.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5204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3538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empregos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4632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 a práticas justas no setor e ampliação de oportunidades de trabalho.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Parada Certa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integrada com três componentes especializados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8138160" cy="594360"/>
          </a:xfrm>
          <a:prstGeom prst="rect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276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48132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motoristas e estacionamentos com informações em tempo real: vagas, preços, avaliações, fotos e localização.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194560"/>
            <a:ext cx="2697480" cy="24231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48740" y="2468880"/>
            <a:ext cx="1005840" cy="1005840"/>
          </a:xfrm>
          <a:prstGeom prst="ellipse">
            <a:avLst/>
          </a:prstGeom>
          <a:solidFill>
            <a:srgbClr val="2E6BC0"/>
          </a:solidFill>
          <a:ln w="12700">
            <a:solidFill>
              <a:srgbClr val="2E6B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7203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85800" y="3977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MOTORISTAS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31520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reserva e check-in via QR Code.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364992" y="2194560"/>
            <a:ext cx="2697480" cy="24231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10812" y="2468880"/>
            <a:ext cx="1005840" cy="1005840"/>
          </a:xfrm>
          <a:prstGeom prst="ellipse">
            <a:avLst/>
          </a:prstGeom>
          <a:solidFill>
            <a:srgbClr val="1F5A37"/>
          </a:solidFill>
          <a:ln w="12700">
            <a:solidFill>
              <a:srgbClr val="1F5A3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7203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47872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3547872" y="3977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B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DOS ESTACIONAMENTOS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593592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monitoramento e relatórios.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27064" y="2194560"/>
            <a:ext cx="2697480" cy="242316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72884" y="2468880"/>
            <a:ext cx="1005840" cy="1005840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272034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9944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Kiosk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409944" y="3977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QR CODE DE ENTRADA/SAÍDA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55664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Geração e leitura segura de tickets.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 •  Motoristas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+ Kotlin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2194560" cy="3246120"/>
          </a:xfrm>
          <a:prstGeom prst="roundRect">
            <a:avLst>
              <a:gd name="adj" fmla="val 7500"/>
            </a:avLst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600200"/>
            <a:ext cx="1975104" cy="2880360"/>
          </a:xfrm>
          <a:prstGeom prst="roundRect">
            <a:avLst>
              <a:gd name="adj" fmla="val 3704"/>
            </a:avLst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0200"/>
            <a:ext cx="1975104" cy="2286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618488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94560"/>
            <a:ext cx="822960" cy="8229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143000" y="2606040"/>
            <a:ext cx="164592" cy="164592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65960" y="2880360"/>
            <a:ext cx="164592" cy="164592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54480" y="3200400"/>
            <a:ext cx="164592" cy="164592"/>
          </a:xfrm>
          <a:prstGeom prst="ellipse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86968" y="3566160"/>
            <a:ext cx="1792224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630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Estacionamento Centro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60120" y="38130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vagas  •  R$ 8/h  •  ★ 4.7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60120" y="4032504"/>
            <a:ext cx="1645920" cy="201168"/>
          </a:xfrm>
          <a:prstGeom prst="roundRect">
            <a:avLst>
              <a:gd name="adj" fmla="val 13636"/>
            </a:avLst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40325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detalhes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154680" y="1417320"/>
            <a:ext cx="5486400" cy="5943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54680" y="1417320"/>
            <a:ext cx="73152" cy="5943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37560" y="1536192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600200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13048" y="147218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interativo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813048" y="17099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Estacionamentos próximos via busca geográfica (Haversine).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154680" y="2075688"/>
            <a:ext cx="5486400" cy="5943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154680" y="2075688"/>
            <a:ext cx="73152" cy="5943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337560" y="2194560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258568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813048" y="213055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3813048" y="236829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disponíveis, preços por hora, avaliações e fotos.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154680" y="2734056"/>
            <a:ext cx="5486400" cy="5943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154680" y="2734056"/>
            <a:ext cx="73152" cy="5943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337560" y="2852928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2916936"/>
            <a:ext cx="219456" cy="21945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813048" y="27889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3813048" y="30266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QR Code com validação automática.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154680" y="3392424"/>
            <a:ext cx="5486400" cy="5943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154680" y="3392424"/>
            <a:ext cx="73152" cy="5943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337560" y="3511296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3575304"/>
            <a:ext cx="219456" cy="21945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813048" y="34472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vagas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3813048" y="36850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para usuários premium.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154680" y="4050792"/>
            <a:ext cx="5486400" cy="5943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3154680" y="4050792"/>
            <a:ext cx="73152" cy="5943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3337560" y="4169664"/>
            <a:ext cx="347472" cy="347472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4233672"/>
            <a:ext cx="219456" cy="21945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3813048" y="410565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integrada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3813048" y="43434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nativa com o Google Maps.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 •  Estacionamentos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HTML e CSS — interface administrativa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1417320"/>
            <a:ext cx="3794760" cy="3246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794760" cy="3657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920240"/>
            <a:ext cx="1097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0240"/>
            <a:ext cx="1097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R$ 4.2k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60920" y="1920240"/>
            <a:ext cx="1097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6092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hoje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regional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703320"/>
            <a:ext cx="365760" cy="411480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3337560"/>
            <a:ext cx="365760" cy="777240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3520440"/>
            <a:ext cx="365760" cy="594360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3154680"/>
            <a:ext cx="365760" cy="960120"/>
          </a:xfrm>
          <a:prstGeom prst="rect">
            <a:avLst/>
          </a:prstGeom>
          <a:solidFill>
            <a:srgbClr val="1F5A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3429000"/>
            <a:ext cx="365760" cy="685800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3611880"/>
            <a:ext cx="365760" cy="502920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246120"/>
            <a:ext cx="365760" cy="868680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4114800"/>
            <a:ext cx="3520440" cy="13716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1605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 ter  qua  qui  sex  sáb  dom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1417320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1417320"/>
            <a:ext cx="73152" cy="749808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1600200"/>
            <a:ext cx="384048" cy="384048"/>
          </a:xfrm>
          <a:prstGeom prst="ellipse">
            <a:avLst/>
          </a:prstGeom>
          <a:solidFill>
            <a:srgbClr val="E4F1E9"/>
          </a:solidFill>
          <a:ln w="12700">
            <a:solidFill>
              <a:srgbClr val="E4F1E9"/>
            </a:solidFill>
            <a:prstDash val="solid"/>
          </a:ln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673352"/>
            <a:ext cx="237744" cy="23774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234440" y="15270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234440" y="18013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para donos e gerentes dos estacionamentos.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02920" y="2258568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2920" y="2258568"/>
            <a:ext cx="73152" cy="749808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1520" y="2441448"/>
            <a:ext cx="384048" cy="384048"/>
          </a:xfrm>
          <a:prstGeom prst="ellipse">
            <a:avLst/>
          </a:prstGeom>
          <a:solidFill>
            <a:srgbClr val="E4F1E9"/>
          </a:solidFill>
          <a:ln w="12700">
            <a:solidFill>
              <a:srgbClr val="E4F1E9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514600"/>
            <a:ext cx="237744" cy="237744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234440" y="236829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completo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1234440" y="26426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Vagas, preços, horários, fotos e localização.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02920" y="3099816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02920" y="3099816"/>
            <a:ext cx="73152" cy="749808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31520" y="3282696"/>
            <a:ext cx="384048" cy="384048"/>
          </a:xfrm>
          <a:prstGeom prst="ellipse">
            <a:avLst/>
          </a:prstGeom>
          <a:solidFill>
            <a:srgbClr val="E4F1E9"/>
          </a:solidFill>
          <a:ln w="12700">
            <a:solidFill>
              <a:srgbClr val="E4F1E9"/>
            </a:solidFill>
            <a:prstDash val="solid"/>
          </a:ln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355848"/>
            <a:ext cx="237744" cy="237744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234440" y="320954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em tempo real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1234440" y="34838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do fluxo de veículos.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502920" y="3941064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02920" y="3941064"/>
            <a:ext cx="73152" cy="749808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731520" y="4123944"/>
            <a:ext cx="384048" cy="384048"/>
          </a:xfrm>
          <a:prstGeom prst="ellipse">
            <a:avLst/>
          </a:prstGeom>
          <a:solidFill>
            <a:srgbClr val="E4F1E9"/>
          </a:solidFill>
          <a:ln w="12700">
            <a:solidFill>
              <a:srgbClr val="E4F1E9"/>
            </a:solidFill>
            <a:prstDash val="solid"/>
          </a:ln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197096"/>
            <a:ext cx="237744" cy="237744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1234440" y="40507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analítico</a:t>
            </a:r>
            <a:endParaRPr lang="en-US" sz="1300" dirty="0"/>
          </a:p>
        </p:txBody>
      </p:sp>
      <p:sp>
        <p:nvSpPr>
          <p:cNvPr id="52" name="Text 46"/>
          <p:cNvSpPr/>
          <p:nvPr/>
        </p:nvSpPr>
        <p:spPr>
          <a:xfrm>
            <a:off x="1234440" y="43251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Faturamento, custos e demanda regional.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Kiosk  •  QR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seguro de entrada e saída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2926080" cy="29260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4188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1135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68083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65031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58926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2822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49769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6717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43665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40612" y="1554480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175142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5031" y="175142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61978" y="175142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55874" y="175142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822" y="175142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40612" y="175142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194837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1135" y="194837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65031" y="194837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58926" y="194837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55874" y="194837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822" y="194837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6717" y="194837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40612" y="194837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2145323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71135" y="2145323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65031" y="2145323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61978" y="2145323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52822" y="2145323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6717" y="2145323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40612" y="2145323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2342271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65031" y="2342271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61978" y="2342271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8926" y="2342271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55874" y="2342271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52822" y="2342271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0612" y="2342271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7240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4188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71135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68083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65031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58926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52822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49769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6717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43665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40612" y="2539218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61978" y="2736166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55874" y="2736166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2933114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71135" y="2933114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68083" y="2933114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58926" y="2933114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55874" y="2933114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49769" y="2933114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6717" y="2933114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40612" y="2933114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7240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74188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1135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68083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565031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61978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55874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52822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549769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46717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943665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40612" y="313006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3327009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565031" y="3327009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58926" y="3327009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352822" y="3327009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140612" y="3327009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7240" y="3523957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71135" y="3523957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65031" y="3523957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61978" y="3523957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58926" y="3523957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55874" y="3523957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352822" y="3523957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6717" y="3523957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40612" y="3523957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77240" y="372090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565031" y="372090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155874" y="372090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352822" y="372090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140612" y="3720905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77240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74188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71135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368083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565031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761978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958926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352822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49769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746717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943665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140612" y="3917852"/>
            <a:ext cx="196948" cy="19694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51560" y="42976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515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único  •  30 min de validade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4480560" y="1417320"/>
            <a:ext cx="4160520" cy="74980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480560" y="1417320"/>
            <a:ext cx="73152" cy="749808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709160" y="1600200"/>
            <a:ext cx="384048" cy="384048"/>
          </a:xfrm>
          <a:prstGeom prst="ellipse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673352"/>
            <a:ext cx="237744" cy="237744"/>
          </a:xfrm>
          <a:prstGeom prst="rect">
            <a:avLst/>
          </a:prstGeom>
        </p:spPr>
      </p:pic>
      <p:sp>
        <p:nvSpPr>
          <p:cNvPr id="118" name="Text 115"/>
          <p:cNvSpPr/>
          <p:nvPr/>
        </p:nvSpPr>
        <p:spPr>
          <a:xfrm>
            <a:off x="5212080" y="1508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QR Code</a:t>
            </a:r>
            <a:endParaRPr lang="en-US" sz="1300" dirty="0"/>
          </a:p>
        </p:txBody>
      </p:sp>
      <p:sp>
        <p:nvSpPr>
          <p:cNvPr id="119" name="Text 116"/>
          <p:cNvSpPr/>
          <p:nvPr/>
        </p:nvSpPr>
        <p:spPr>
          <a:xfrm>
            <a:off x="521208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único e validade de 30 minutos para cada ticket de entrada.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4480560" y="2258568"/>
            <a:ext cx="4160520" cy="74980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480560" y="2258568"/>
            <a:ext cx="73152" cy="749808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709160" y="2441448"/>
            <a:ext cx="384048" cy="384048"/>
          </a:xfrm>
          <a:prstGeom prst="ellipse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514600"/>
            <a:ext cx="237744" cy="237744"/>
          </a:xfrm>
          <a:prstGeom prst="rect">
            <a:avLst/>
          </a:prstGeom>
        </p:spPr>
      </p:pic>
      <p:sp>
        <p:nvSpPr>
          <p:cNvPr id="124" name="Text 120"/>
          <p:cNvSpPr/>
          <p:nvPr/>
        </p:nvSpPr>
        <p:spPr>
          <a:xfrm>
            <a:off x="5212080" y="2350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na saída</a:t>
            </a:r>
            <a:endParaRPr lang="en-US" sz="1300" dirty="0"/>
          </a:p>
        </p:txBody>
      </p:sp>
      <p:sp>
        <p:nvSpPr>
          <p:cNvPr id="125" name="Text 121"/>
          <p:cNvSpPr/>
          <p:nvPr/>
        </p:nvSpPr>
        <p:spPr>
          <a:xfrm>
            <a:off x="5212080" y="2624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 do check-out via leitura do mesmo QR Code.</a:t>
            </a:r>
            <a:endParaRPr lang="en-US" sz="1000" dirty="0"/>
          </a:p>
        </p:txBody>
      </p:sp>
      <p:sp>
        <p:nvSpPr>
          <p:cNvPr id="126" name="Shape 122"/>
          <p:cNvSpPr/>
          <p:nvPr/>
        </p:nvSpPr>
        <p:spPr>
          <a:xfrm>
            <a:off x="4480560" y="3099816"/>
            <a:ext cx="4160520" cy="74980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4480560" y="3099816"/>
            <a:ext cx="73152" cy="749808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4709160" y="3282696"/>
            <a:ext cx="384048" cy="384048"/>
          </a:xfrm>
          <a:prstGeom prst="ellipse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3355848"/>
            <a:ext cx="237744" cy="237744"/>
          </a:xfrm>
          <a:prstGeom prst="rect">
            <a:avLst/>
          </a:prstGeom>
        </p:spPr>
      </p:pic>
      <p:sp>
        <p:nvSpPr>
          <p:cNvPr id="130" name="Text 125"/>
          <p:cNvSpPr/>
          <p:nvPr/>
        </p:nvSpPr>
        <p:spPr>
          <a:xfrm>
            <a:off x="5212080" y="31912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anti-reuso</a:t>
            </a:r>
            <a:endParaRPr lang="en-US" sz="1300" dirty="0"/>
          </a:p>
        </p:txBody>
      </p:sp>
      <p:sp>
        <p:nvSpPr>
          <p:cNvPr id="131" name="Text 126"/>
          <p:cNvSpPr/>
          <p:nvPr/>
        </p:nvSpPr>
        <p:spPr>
          <a:xfrm>
            <a:off x="5212080" y="3465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já utilizados são automaticamente rejeitados pelo sistema.</a:t>
            </a:r>
            <a:endParaRPr lang="en-US" sz="1000" dirty="0"/>
          </a:p>
        </p:txBody>
      </p:sp>
      <p:sp>
        <p:nvSpPr>
          <p:cNvPr id="132" name="Shape 127"/>
          <p:cNvSpPr/>
          <p:nvPr/>
        </p:nvSpPr>
        <p:spPr>
          <a:xfrm>
            <a:off x="4480560" y="3941064"/>
            <a:ext cx="4160520" cy="74980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4480560" y="3941064"/>
            <a:ext cx="73152" cy="749808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4709160" y="4123944"/>
            <a:ext cx="384048" cy="384048"/>
          </a:xfrm>
          <a:prstGeom prst="ellipse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4197096"/>
            <a:ext cx="237744" cy="237744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5212080" y="40325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Invalidação automática</a:t>
            </a:r>
            <a:endParaRPr lang="en-US" sz="1300" dirty="0"/>
          </a:p>
        </p:txBody>
      </p:sp>
      <p:sp>
        <p:nvSpPr>
          <p:cNvPr id="137" name="Text 131"/>
          <p:cNvSpPr/>
          <p:nvPr/>
        </p:nvSpPr>
        <p:spPr>
          <a:xfrm>
            <a:off x="5212080" y="4306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gerar um novo QR Code, os anteriores tornam-se inválidos.</a:t>
            </a:r>
            <a:endParaRPr lang="en-US" sz="1000" dirty="0"/>
          </a:p>
        </p:txBody>
      </p:sp>
      <p:sp>
        <p:nvSpPr>
          <p:cNvPr id="138" name="Text 132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139" name="Text 13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C4 — quatro níveis de detalhamento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2011680" cy="9144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81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984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2926080"/>
            <a:ext cx="27432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central conectado a motoristas, estacionamentos e serviços externos.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32888" y="3026664"/>
            <a:ext cx="128016" cy="27432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9192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9192" y="1417320"/>
            <a:ext cx="2011680" cy="9144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581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N2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79192" y="1984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16352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47872" y="2926080"/>
            <a:ext cx="27432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front-ends + 3 back-ends Spring Boot independentes + SQL Server central.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26664"/>
            <a:ext cx="128016" cy="27432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55464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55464" y="1417320"/>
            <a:ext cx="2011680" cy="9144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1581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55464" y="1984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92624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24144" y="2926080"/>
            <a:ext cx="27432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38344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principal com 15 componentes em 3 camadas: controllers, services, repositories.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85432" y="3026664"/>
            <a:ext cx="128016" cy="27432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31736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31736" y="1417320"/>
            <a:ext cx="2011680" cy="9144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1736" y="15819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31736" y="1984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68896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900416" y="2926080"/>
            <a:ext cx="27432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14616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de controllers, services, entities e o fluxo "Registrar Entrada".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e ferramentas utilizadas no desenvolvimento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2697480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9222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673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63040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+ Kotlin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nativo Android.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64992" y="1417320"/>
            <a:ext cx="2697480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93592" y="1645920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179222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25112" y="1673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325112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JavaScript, HTML, CSS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93592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administrativa responsiva.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27064" y="1417320"/>
            <a:ext cx="2697480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55664" y="1645920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1792224"/>
            <a:ext cx="301752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87184" y="16733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187184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+ Java + Spring Boot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55664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independentes.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02920" y="3182112"/>
            <a:ext cx="2697480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" y="3410712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557016"/>
            <a:ext cx="301752" cy="3017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34381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46304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31520" y="41422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com lock pessimista.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364992" y="3182112"/>
            <a:ext cx="2697480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593592" y="3410712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9896" y="3557016"/>
            <a:ext cx="301752" cy="30175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325112" y="34381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325112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3593592" y="41422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 infraestrutura.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227064" y="3182112"/>
            <a:ext cx="2697480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55664" y="3410712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3557016"/>
            <a:ext cx="301752" cy="30175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187184" y="34381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7187184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 •  Luhn  •  UUID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6455664" y="41422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Senhas, cartões e tickets.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Regras de Negócio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entre as 84 regras definidas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73152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581912"/>
            <a:ext cx="457200" cy="45720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8249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527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única por cliente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8016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pessimista no banco evita overbooking de vagas.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141732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1417320"/>
            <a:ext cx="73152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10328" y="1581912"/>
            <a:ext cx="457200" cy="45720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68249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1527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com UUID global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de 30 min, payload JSON, uso único.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02920" y="237744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02920" y="2377440"/>
            <a:ext cx="73152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04088" y="2542032"/>
            <a:ext cx="457200" cy="45720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264261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premium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28016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1h do preço; reembolso de 90% no cancelamento.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709160" y="237744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09160" y="2377440"/>
            <a:ext cx="73152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910328" y="2542032"/>
            <a:ext cx="457200" cy="45720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642616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manual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4864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integração PIX automática; back-end aceita valor informado.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02920" y="333756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02920" y="3337560"/>
            <a:ext cx="73152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04088" y="3502152"/>
            <a:ext cx="457200" cy="45720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602736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80160" y="3447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1–5 ★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128016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Moderação em duas camadas: filtro PT-BR + OpenAI.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4709160" y="333756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709160" y="3337560"/>
            <a:ext cx="73152" cy="868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910328" y="3502152"/>
            <a:ext cx="457200" cy="45720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3602736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486400" y="3447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LGPD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548640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4 últimos dígitos do cartão; CVV proibido; PIX exposto só em sessão ativa.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502920" y="4343400"/>
            <a:ext cx="8138160" cy="292608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594360" y="43434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Estacionamentos com selo suspenso após inadimplência de 10 dias  ou  abaixo de 3 ★ em 30 avaliações consecutivas.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Monetização e projeção financeira anual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DE ASSINATURA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4663440" cy="118872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810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1945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funcionalidades essenciais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</a:t>
            </a: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R$ 24,90/mês ou R$ 240,90/ano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Reserva, comentários e integração com Maps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3017520"/>
            <a:ext cx="4663440" cy="16916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546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3136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Estacionamentos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5800" y="352044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40 dias grátis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E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</a:t>
            </a: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R$ 149,90/mês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avaliações, admin completo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</a:t>
            </a: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R$ 399,90/mês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prioritário + relatórios de demanda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4068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FINANCEIRA ANUAL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40680" y="1691640"/>
            <a:ext cx="3200400" cy="9144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77840" y="17556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5577840" y="1993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R$ 436.255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5440680" y="2697480"/>
            <a:ext cx="3200400" cy="9144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577840" y="27614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OPERACIONAL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577840" y="2999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R$ 131.724</a:t>
            </a:r>
            <a:endParaRPr lang="en-US" sz="2800" dirty="0"/>
          </a:p>
        </p:txBody>
      </p:sp>
      <p:sp>
        <p:nvSpPr>
          <p:cNvPr id="23" name="Shape 19"/>
          <p:cNvSpPr/>
          <p:nvPr/>
        </p:nvSpPr>
        <p:spPr>
          <a:xfrm>
            <a:off x="5440680" y="3703320"/>
            <a:ext cx="3200400" cy="100584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77840" y="3767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OPERACIONAL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1"/>
          <p:cNvSpPr/>
          <p:nvPr/>
        </p:nvSpPr>
        <p:spPr>
          <a:xfrm>
            <a:off x="5577840" y="40050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 </a:t>
            </a:r>
            <a:r>
              <a:rPr lang="en-US" sz="1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R$ 304.531/ano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6" name="Text 22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 Concorrentes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comparativa de funcionalidades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27432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ParkoPedia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Estapar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 CERTA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de estacionamentos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Informações de preços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Navegação até o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 de estacionamentos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Vagas em tempo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0740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297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é a única solução que combina gestão completa, vagas em tempo real, preços e navegação integrada.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Validações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garantia de qualidade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8138160" cy="640080"/>
          </a:xfrm>
          <a:prstGeom prst="rect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27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417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manuais e contínuos realizados ao longo de todo o desenvolvimento, integrando validação técnica e de usabilidade.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240280"/>
            <a:ext cx="2697480" cy="24231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2514600"/>
            <a:ext cx="777240" cy="777240"/>
          </a:xfrm>
          <a:prstGeom prst="ellipse">
            <a:avLst/>
          </a:prstGeom>
          <a:solidFill>
            <a:srgbClr val="2E6BC0"/>
          </a:solidFill>
          <a:ln w="12700">
            <a:solidFill>
              <a:srgbClr val="2E6B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6974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Mobile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1668780" y="3840480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3995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 do Android Studio: navegação entre telas, validação de formulários e campos, cadastro completo e comunicação com banco de dados.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64992" y="2240280"/>
            <a:ext cx="2697480" cy="24231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25112" y="2514600"/>
            <a:ext cx="777240" cy="777240"/>
          </a:xfrm>
          <a:prstGeom prst="ellipse">
            <a:avLst/>
          </a:prstGeom>
          <a:solidFill>
            <a:srgbClr val="2E6BC0"/>
          </a:solidFill>
          <a:ln w="12700">
            <a:solidFill>
              <a:srgbClr val="2E6BC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26974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47872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Web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4530852" y="3840480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593592" y="3995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diretamente no navegador: interface, organização visual e interações do usuário com o painel administrativo.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27064" y="2240280"/>
            <a:ext cx="2697480" cy="242316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87184" y="2514600"/>
            <a:ext cx="777240" cy="777240"/>
          </a:xfrm>
          <a:prstGeom prst="ellipse">
            <a:avLst/>
          </a:prstGeom>
          <a:solidFill>
            <a:srgbClr val="2E6BC0"/>
          </a:solidFill>
          <a:ln w="12700">
            <a:solidFill>
              <a:srgbClr val="2E6BC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269748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9944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7392924" y="3840480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55664" y="3995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 internas entre os integrantes para melhorias de usabilidade e validação contínua contra os requisitos funcionais.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 Aplicação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Espaços reservados para capturas de tela ou demonstração ao vivo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4023360" cy="3246120"/>
          </a:xfrm>
          <a:prstGeom prst="rect">
            <a:avLst/>
          </a:prstGeom>
          <a:solidFill>
            <a:srgbClr val="F7F9FC"/>
          </a:solidFill>
          <a:ln w="19050">
            <a:solidFill>
              <a:srgbClr val="1F4E8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240280" y="2103120"/>
            <a:ext cx="548640" cy="54864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223113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MOBILE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 •  Detalhes  •  QR Code  •  Avaliações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920240" y="3611880"/>
            <a:ext cx="118872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17720" y="1417320"/>
            <a:ext cx="4023360" cy="3246120"/>
          </a:xfrm>
          <a:prstGeom prst="rect">
            <a:avLst/>
          </a:prstGeom>
          <a:solidFill>
            <a:srgbClr val="F7F9FC"/>
          </a:solidFill>
          <a:ln w="19050">
            <a:solidFill>
              <a:srgbClr val="1F4E8C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6355080" y="2103120"/>
            <a:ext cx="548640" cy="54864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23113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772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17720" y="3108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•  Gestão de vagas  •  Admin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3611880"/>
            <a:ext cx="118872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1772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Dificuldades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enfrentados durante o desenvolvimento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8138160" cy="1005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91440" cy="100584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463040" y="1600200"/>
            <a:ext cx="18288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916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40280" y="15361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comercial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240280" y="180136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abordagem para vender a solução aos estacionamentos — desafio clássico do "ovo e da galinha": precisamos de estacionamentos para atrair motoristas, e vice-versa.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542032"/>
            <a:ext cx="8138160" cy="1005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542032"/>
            <a:ext cx="91440" cy="100584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272491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1463040" y="2724912"/>
            <a:ext cx="18288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816352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40280" y="266090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 IoT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240280" y="292608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conhecimento em hardware específico para sensores de entrada e saída automatizados, o que limitou a automação física do controle de fluxo.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2920" y="3666744"/>
            <a:ext cx="8138160" cy="1005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3666744"/>
            <a:ext cx="91440" cy="100584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384962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4" name="Shape 20"/>
          <p:cNvSpPr/>
          <p:nvPr/>
        </p:nvSpPr>
        <p:spPr>
          <a:xfrm>
            <a:off x="1463040" y="3849624"/>
            <a:ext cx="18288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941064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240280" y="378561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em tempo real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2240280" y="4050792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técnicos na exibição de vagas em tempo real e na organização adequada das requisições à API para garantir performance e consistência dos dados.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e evolução da plataforma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2697480" cy="16459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1620" y="1783080"/>
            <a:ext cx="640080" cy="64008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19202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468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geográfica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estado de São Paulo e demais estados.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64992" y="141732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1417320"/>
            <a:ext cx="2697480" cy="16459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93692" y="1783080"/>
            <a:ext cx="640080" cy="64008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852" y="19202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02152" y="2468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IoT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47872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 de entrada/saída por hardware dedicado.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27064" y="141732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27064" y="1417320"/>
            <a:ext cx="2697480" cy="16459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55764" y="1783080"/>
            <a:ext cx="640080" cy="64008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19202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64224" y="2468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9944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demanda de vagas por região e horário.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02920" y="3182112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2920" y="3182112"/>
            <a:ext cx="2697480" cy="16459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531620" y="3547872"/>
            <a:ext cx="640080" cy="64008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780" y="3685032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0080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de pagamento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85800" y="4507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funcional, de baixo custo, com PIX automático.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3364992" y="3182112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64992" y="3182112"/>
            <a:ext cx="2697480" cy="16459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393692" y="3547872"/>
            <a:ext cx="640080" cy="64008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0852" y="3685032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502152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mais descritivos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3547872" y="4507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avançados por cidade e categoria do estacionamento.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227064" y="3182112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27064" y="3182112"/>
            <a:ext cx="2697480" cy="164592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255764" y="3547872"/>
            <a:ext cx="640080" cy="640080"/>
          </a:xfrm>
          <a:prstGeom prst="ellipse">
            <a:avLst/>
          </a:prstGeom>
          <a:solidFill>
            <a:srgbClr val="E6EEF9"/>
          </a:solidFill>
          <a:ln w="12700">
            <a:solidFill>
              <a:srgbClr val="E6EEF9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2924" y="3685032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364224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com benefícios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409944" y="4507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para motoristas com descontos mensais em estadias.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28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do trabalho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36576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4023360" cy="155448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91440" cy="155448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79222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6184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aplicada a problemas reais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08760" y="194767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Parada Certa demonstrou, na prática, a aplicação da Tecnologia da Informação na resolução de problemas urbanos de segurança e mobilidade.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90872" y="1417320"/>
            <a:ext cx="4023360" cy="155448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90872" y="1417320"/>
            <a:ext cx="91440" cy="155448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65192" y="1645920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792224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96712" y="16184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Centralização de informações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696712" y="1947672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reúne vagas, avaliações, preços e segurança, fortalecendo a relação entre motoristas e estacionamentos.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2920" y="3136392"/>
            <a:ext cx="4023360" cy="155448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02920" y="3136392"/>
            <a:ext cx="91440" cy="155448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7240" y="3364992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3511296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atendidos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508760" y="3666744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atendeu aos requisitos funcionais e não funcionais propostos, incluindo a conformidade com a LGPD.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690872" y="3136392"/>
            <a:ext cx="4023360" cy="155448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90872" y="3136392"/>
            <a:ext cx="91440" cy="155448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965192" y="3364992"/>
            <a:ext cx="594360" cy="59436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3511296"/>
            <a:ext cx="301752" cy="3017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96712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696712" y="3666744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contribui para a redução da insegurança e estimula a formalização dos serviços de estacionamento.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029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Certa  •  SENAC  •  2026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Agradecemos a sua atenção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REFERÊNCIAS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395728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de Segurança Pública (SSP-SP)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Detran-SP — Frota veicular 2024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 — Objetivos de Desenvolvimento Sustentável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Geral de Proteção de Dados (LGPD)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oficial Spring Boot e Android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 complementar de TCC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11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AGRADECIMENTOS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846320" y="23957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nossos orientadores, pelo acompanhamento e pelas valiosas contribuições ao longo do desenvolvimento deste trabalho.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846320" y="3246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Centro Universitário SENAC, pela formação acadêmica e pela estrutura oferecida durante toda a graduação.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46320" y="4069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nossos familiares e amigos, pelo apoio incondicional.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617720"/>
            <a:ext cx="7863840" cy="36576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CD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Nunes de Oliveira  •  Rafael Santos Mauro de Menezes  •  SENAC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1763</Words>
  <Application>Microsoft Office PowerPoint</Application>
  <PresentationFormat>Apresentação na tela (16:9)</PresentationFormat>
  <Paragraphs>382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Centro Universitário SENAC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Parada Certa — Defesa de TCC</dc:title>
  <dc:subject>PptxGenJS Presentation</dc:subject>
  <dc:creator>Gustavo Nunes de Oliveira e Rafael Santos Mauro de Menezes</dc:creator>
  <cp:lastModifiedBy> </cp:lastModifiedBy>
  <cp:revision>4</cp:revision>
  <dcterms:created xsi:type="dcterms:W3CDTF">2026-05-15T18:26:14Z</dcterms:created>
  <dcterms:modified xsi:type="dcterms:W3CDTF">2026-05-15T18:58:51Z</dcterms:modified>
</cp:coreProperties>
</file>